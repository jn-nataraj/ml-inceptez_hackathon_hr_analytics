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0" r:id="rId7"/>
    <p:sldId id="269" r:id="rId8"/>
    <p:sldId id="270" r:id="rId9"/>
    <p:sldId id="262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B6BFD8-49D5-4ABE-978F-51B4F3DBA519}" v="277" dt="2026-01-04T15:20:01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l-inceptez-hackathon-hr-analytics-65827796111.europe-west1.run.app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nceptez-hackathon-hr-analytics-ui-65827796111.europe-west1.run.app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Promotion Prediction –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Objective:</a:t>
            </a:r>
          </a:p>
          <a:p>
            <a:pPr marL="0" indent="0">
              <a:buNone/>
            </a:pPr>
            <a:r>
              <a:rPr dirty="0"/>
              <a:t>Predict employee promotion using historical HR data</a:t>
            </a:r>
            <a:endParaRPr dirty="0">
              <a:ea typeface="Calibri"/>
              <a:cs typeface="Calibri"/>
            </a:endParaRPr>
          </a:p>
          <a:p>
            <a:endParaRPr/>
          </a:p>
          <a:p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BC-8B12-6E31-EE07-E10C4FAC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Exploratory Data Analysis (EDA)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E06DF-2787-C4BC-A5FB-395AB1C49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EDA – Target Variable Distribution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The target variable (</a:t>
            </a:r>
            <a:r>
              <a:rPr lang="en-US" sz="1600" dirty="0" err="1">
                <a:latin typeface="Consolas"/>
              </a:rPr>
              <a:t>is_promoted</a:t>
            </a:r>
            <a:r>
              <a:rPr lang="en-US" sz="1600" dirty="0">
                <a:ea typeface="+mn-lt"/>
                <a:cs typeface="+mn-lt"/>
              </a:rPr>
              <a:t>) is </a:t>
            </a:r>
            <a:r>
              <a:rPr lang="en-US" sz="1600" b="1" dirty="0">
                <a:ea typeface="+mn-lt"/>
                <a:cs typeface="+mn-lt"/>
              </a:rPr>
              <a:t>highly imbalanced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Majority of employees are </a:t>
            </a:r>
            <a:r>
              <a:rPr lang="en-US" sz="1600" b="1" dirty="0">
                <a:ea typeface="+mn-lt"/>
                <a:cs typeface="+mn-lt"/>
              </a:rPr>
              <a:t>Not Promoted (~50k)</a:t>
            </a:r>
            <a:r>
              <a:rPr lang="en-US" sz="1600" dirty="0">
                <a:ea typeface="+mn-lt"/>
                <a:cs typeface="+mn-lt"/>
              </a:rPr>
              <a:t>, while only </a:t>
            </a:r>
            <a:r>
              <a:rPr lang="en-US" sz="1600" b="1" dirty="0">
                <a:ea typeface="+mn-lt"/>
                <a:cs typeface="+mn-lt"/>
              </a:rPr>
              <a:t>~4.6k are Promoted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This imbalance influenced </a:t>
            </a:r>
            <a:r>
              <a:rPr lang="en-US" sz="1600" b="1" dirty="0">
                <a:ea typeface="+mn-lt"/>
                <a:cs typeface="+mn-lt"/>
              </a:rPr>
              <a:t>metric selection (Recall, F1)</a:t>
            </a:r>
            <a:r>
              <a:rPr lang="en-US" sz="1600" dirty="0">
                <a:ea typeface="+mn-lt"/>
                <a:cs typeface="+mn-lt"/>
              </a:rPr>
              <a:t> over accuracy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Special care needed to ensure promoted candidates are </a:t>
            </a:r>
            <a:r>
              <a:rPr lang="en-US" sz="1600" b="1" dirty="0">
                <a:ea typeface="+mn-lt"/>
                <a:cs typeface="+mn-lt"/>
              </a:rPr>
              <a:t>not missed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6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  <a:ea typeface="+mn-lt"/>
                <a:cs typeface="+mn-lt"/>
              </a:rPr>
              <a:t>“Target variable is heavily imbalanced, so need to do the sampling of data</a:t>
            </a:r>
            <a:endParaRPr lang="en-US" sz="1600" i="1" dirty="0">
              <a:solidFill>
                <a:schemeClr val="accent6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600" i="1" dirty="0">
              <a:solidFill>
                <a:schemeClr val="accent6"/>
              </a:solidFill>
            </a:endParaRPr>
          </a:p>
          <a:p>
            <a:pPr>
              <a:buNone/>
            </a:pPr>
            <a:r>
              <a:rPr lang="en-US" sz="1600" b="1" dirty="0"/>
              <a:t>EDA – Numerical Feature Distribution &amp; Outliers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Most numerical features show </a:t>
            </a:r>
            <a:r>
              <a:rPr lang="en-US" sz="1600" b="1" dirty="0">
                <a:ea typeface="+mn-lt"/>
                <a:cs typeface="+mn-lt"/>
              </a:rPr>
              <a:t>skewness and presence of outliers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 err="1">
                <a:latin typeface="Calibri"/>
                <a:ea typeface="Calibri"/>
                <a:cs typeface="Calibri"/>
              </a:rPr>
              <a:t>length_of_service</a:t>
            </a:r>
            <a:r>
              <a:rPr lang="en-US" sz="1600" dirty="0">
                <a:ea typeface="+mn-lt"/>
                <a:cs typeface="+mn-lt"/>
              </a:rPr>
              <a:t> and </a:t>
            </a:r>
            <a:r>
              <a:rPr lang="en-US" sz="1600" dirty="0">
                <a:latin typeface="Calibri"/>
                <a:ea typeface="Calibri"/>
                <a:cs typeface="Calibri"/>
              </a:rPr>
              <a:t>age</a:t>
            </a:r>
            <a:r>
              <a:rPr lang="en-US" sz="1600" dirty="0">
                <a:ea typeface="+mn-lt"/>
                <a:cs typeface="+mn-lt"/>
              </a:rPr>
              <a:t> contain </a:t>
            </a:r>
            <a:r>
              <a:rPr lang="en-US" sz="1600" b="1" dirty="0">
                <a:ea typeface="+mn-lt"/>
                <a:cs typeface="+mn-lt"/>
              </a:rPr>
              <a:t>long-tail distributions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err="1">
                <a:latin typeface="Calibri"/>
                <a:ea typeface="Calibri"/>
                <a:cs typeface="Calibri"/>
              </a:rPr>
              <a:t>no_of_trainings</a:t>
            </a:r>
            <a:r>
              <a:rPr lang="en-US" sz="1600" dirty="0">
                <a:ea typeface="+mn-lt"/>
                <a:cs typeface="+mn-lt"/>
              </a:rPr>
              <a:t> and </a:t>
            </a:r>
            <a:r>
              <a:rPr lang="en-US" sz="1600" err="1">
                <a:latin typeface="Calibri"/>
                <a:ea typeface="Calibri"/>
                <a:cs typeface="Calibri"/>
              </a:rPr>
              <a:t>previous_year_rating</a:t>
            </a:r>
            <a:r>
              <a:rPr lang="en-US" sz="1600" dirty="0">
                <a:ea typeface="+mn-lt"/>
                <a:cs typeface="+mn-lt"/>
              </a:rPr>
              <a:t> are </a:t>
            </a:r>
            <a:r>
              <a:rPr lang="en-US" sz="1600" b="1" dirty="0">
                <a:ea typeface="+mn-lt"/>
                <a:cs typeface="+mn-lt"/>
              </a:rPr>
              <a:t>discrete with limited range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Binary features (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KPIs_met</a:t>
            </a:r>
            <a:r>
              <a:rPr lang="en-US" sz="1600" dirty="0">
                <a:latin typeface="Calibri"/>
                <a:ea typeface="Calibri"/>
                <a:cs typeface="Calibri"/>
              </a:rPr>
              <a:t> &gt;80%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awards_won</a:t>
            </a:r>
            <a:r>
              <a:rPr lang="en-US" sz="1600" dirty="0">
                <a:ea typeface="+mn-lt"/>
                <a:cs typeface="+mn-lt"/>
              </a:rPr>
              <a:t>) are </a:t>
            </a:r>
            <a:r>
              <a:rPr lang="en-US" sz="1600" b="1" dirty="0">
                <a:ea typeface="+mn-lt"/>
                <a:cs typeface="+mn-lt"/>
              </a:rPr>
              <a:t>highly sparse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Outliers were </a:t>
            </a:r>
            <a:r>
              <a:rPr lang="en-US" sz="1600" b="1" dirty="0">
                <a:ea typeface="+mn-lt"/>
                <a:cs typeface="+mn-lt"/>
              </a:rPr>
              <a:t>retained</a:t>
            </a:r>
            <a:r>
              <a:rPr lang="en-US" sz="1600" dirty="0">
                <a:ea typeface="+mn-lt"/>
                <a:cs typeface="+mn-lt"/>
              </a:rPr>
              <a:t> as they represent valid employee cases, not data errors</a:t>
            </a:r>
            <a:endParaRPr lang="en-US" dirty="0"/>
          </a:p>
          <a:p>
            <a:pPr marL="0" indent="0">
              <a:buNone/>
            </a:pPr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3243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1614-6C5C-C43D-B251-38745295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Exploratory Data Analysis (EDA)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C5143-9D48-136F-8D59-192EB3AEF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/>
              <a:t>EDA – Correlation Insights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Promotion shows </a:t>
            </a:r>
            <a:r>
              <a:rPr lang="en-US" sz="1600" b="1" dirty="0">
                <a:ea typeface="+mn-lt"/>
                <a:cs typeface="+mn-lt"/>
              </a:rPr>
              <a:t>stronger correlation with performance indicators</a:t>
            </a:r>
            <a:r>
              <a:rPr lang="en-US" sz="1600" dirty="0">
                <a:ea typeface="+mn-lt"/>
                <a:cs typeface="+mn-lt"/>
              </a:rPr>
              <a:t> than tenure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 err="1">
                <a:latin typeface="Calibri"/>
                <a:ea typeface="Calibri"/>
                <a:cs typeface="Calibri"/>
              </a:rPr>
              <a:t>KPIs_met</a:t>
            </a:r>
            <a:r>
              <a:rPr lang="en-US" sz="1600" dirty="0">
                <a:latin typeface="Calibri"/>
                <a:ea typeface="Calibri"/>
                <a:cs typeface="Calibri"/>
              </a:rPr>
              <a:t> &gt;80%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previous_year_rating</a:t>
            </a:r>
            <a:r>
              <a:rPr lang="en-US" sz="1600" dirty="0">
                <a:ea typeface="+mn-lt"/>
                <a:cs typeface="+mn-lt"/>
              </a:rPr>
              <a:t>, and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avg_training_score</a:t>
            </a:r>
            <a:r>
              <a:rPr lang="en-US" sz="1600" dirty="0">
                <a:ea typeface="+mn-lt"/>
                <a:cs typeface="+mn-lt"/>
              </a:rPr>
              <a:t> have the </a:t>
            </a:r>
            <a:r>
              <a:rPr lang="en-US" sz="1600" b="1" dirty="0">
                <a:ea typeface="+mn-lt"/>
                <a:cs typeface="+mn-lt"/>
              </a:rPr>
              <a:t>highest positive association</a:t>
            </a:r>
            <a:r>
              <a:rPr lang="en-US" sz="1600" dirty="0">
                <a:ea typeface="+mn-lt"/>
                <a:cs typeface="+mn-lt"/>
              </a:rPr>
              <a:t> with promotion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latin typeface="Calibri"/>
                <a:ea typeface="Calibri"/>
                <a:cs typeface="Calibri"/>
              </a:rPr>
              <a:t>age</a:t>
            </a:r>
            <a:r>
              <a:rPr lang="en-US" sz="1600" dirty="0">
                <a:ea typeface="+mn-lt"/>
                <a:cs typeface="+mn-lt"/>
              </a:rPr>
              <a:t> and </a:t>
            </a:r>
            <a:r>
              <a:rPr lang="en-US" sz="1600" err="1">
                <a:latin typeface="Calibri"/>
                <a:ea typeface="Calibri"/>
                <a:cs typeface="Calibri"/>
              </a:rPr>
              <a:t>length_of_service</a:t>
            </a:r>
            <a:r>
              <a:rPr lang="en-US" sz="1600" dirty="0">
                <a:ea typeface="+mn-lt"/>
                <a:cs typeface="+mn-lt"/>
              </a:rPr>
              <a:t> are </a:t>
            </a:r>
            <a:r>
              <a:rPr lang="en-US" sz="1600" b="1" dirty="0">
                <a:ea typeface="+mn-lt"/>
                <a:cs typeface="+mn-lt"/>
              </a:rPr>
              <a:t>highly correlated with each other</a:t>
            </a:r>
            <a:r>
              <a:rPr lang="en-US" sz="1600" dirty="0">
                <a:ea typeface="+mn-lt"/>
                <a:cs typeface="+mn-lt"/>
              </a:rPr>
              <a:t>, but weakly related to promotion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Indicates promotion decisions are </a:t>
            </a:r>
            <a:r>
              <a:rPr lang="en-US" sz="1600" b="1" dirty="0">
                <a:ea typeface="+mn-lt"/>
                <a:cs typeface="+mn-lt"/>
              </a:rPr>
              <a:t>performance-driven rather than experience-driven</a:t>
            </a:r>
            <a:endParaRPr lang="en-US" sz="1600">
              <a:ea typeface="Calibri"/>
              <a:cs typeface="Calibri"/>
            </a:endParaRPr>
          </a:p>
          <a:p>
            <a:pPr marL="0" indent="0">
              <a:buNone/>
            </a:pPr>
            <a:endParaRPr lang="en-US" sz="1600" dirty="0">
              <a:solidFill>
                <a:schemeClr val="accent6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  <a:ea typeface="+mn-lt"/>
                <a:cs typeface="+mn-lt"/>
              </a:rPr>
              <a:t>“Performance metrics drive promotion more than experience, guiding feature importance and model focus.”</a:t>
            </a:r>
            <a:endParaRPr lang="en-US" i="1" dirty="0">
              <a:solidFill>
                <a:schemeClr val="accent6"/>
              </a:solidFill>
              <a:ea typeface="+mn-lt"/>
              <a:cs typeface="+mn-lt"/>
            </a:endParaRPr>
          </a:p>
          <a:p>
            <a:endParaRPr lang="en-US" sz="1600" b="1" dirty="0"/>
          </a:p>
          <a:p>
            <a:pPr>
              <a:buNone/>
            </a:pPr>
            <a:r>
              <a:rPr lang="en-US" b="1" dirty="0"/>
              <a:t>EDA – Categorical Feature Distribution</a:t>
            </a:r>
            <a:endParaRPr lang="en-US" dirty="0"/>
          </a:p>
          <a:p>
            <a:r>
              <a:rPr lang="en-US" sz="1600" dirty="0">
                <a:ea typeface="+mn-lt"/>
                <a:cs typeface="+mn-lt"/>
              </a:rPr>
              <a:t>Employee distribution is </a:t>
            </a:r>
            <a:r>
              <a:rPr lang="en-US" sz="1600" b="1" dirty="0">
                <a:ea typeface="+mn-lt"/>
                <a:cs typeface="+mn-lt"/>
              </a:rPr>
              <a:t>uneven across departments and regions</a:t>
            </a:r>
            <a:endParaRPr lang="en-US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Sales &amp; Marketing and Operations</a:t>
            </a:r>
            <a:r>
              <a:rPr lang="en-US" sz="1600" dirty="0">
                <a:ea typeface="+mn-lt"/>
                <a:cs typeface="+mn-lt"/>
              </a:rPr>
              <a:t> dominate the workforce</a:t>
            </a:r>
            <a:endParaRPr lang="en-US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Majority of employees hold a </a:t>
            </a:r>
            <a:r>
              <a:rPr lang="en-US" sz="1600" b="1" dirty="0">
                <a:ea typeface="+mn-lt"/>
                <a:cs typeface="+mn-lt"/>
              </a:rPr>
              <a:t>Bachelor’s degree</a:t>
            </a:r>
            <a:endParaRPr lang="en-US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Workforce is </a:t>
            </a:r>
            <a:r>
              <a:rPr lang="en-US" sz="1600" b="1" dirty="0">
                <a:ea typeface="+mn-lt"/>
                <a:cs typeface="+mn-lt"/>
              </a:rPr>
              <a:t>male-dominant</a:t>
            </a:r>
            <a:r>
              <a:rPr lang="en-US" sz="1600" dirty="0">
                <a:ea typeface="+mn-lt"/>
                <a:cs typeface="+mn-lt"/>
              </a:rPr>
              <a:t>, indicating demographic imbalance</a:t>
            </a:r>
            <a:endParaRPr lang="en-US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Most hiring happens via </a:t>
            </a:r>
            <a:r>
              <a:rPr lang="en-US" sz="1600" b="1" dirty="0">
                <a:ea typeface="+mn-lt"/>
                <a:cs typeface="+mn-lt"/>
              </a:rPr>
              <a:t>sourcing and other channels</a:t>
            </a:r>
            <a:r>
              <a:rPr lang="en-US" sz="1600" dirty="0">
                <a:ea typeface="+mn-lt"/>
                <a:cs typeface="+mn-lt"/>
              </a:rPr>
              <a:t>, with very few referrals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  <a:ea typeface="+mn-lt"/>
                <a:cs typeface="+mn-lt"/>
              </a:rPr>
              <a:t>“Categorical features are imbalanced, so encoding and modeling needed to handle dominant categories without bias.”</a:t>
            </a:r>
            <a:endParaRPr lang="en-US" i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sz="1600" b="1" dirty="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7618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C1B97-CC68-A40B-4E67-134977D04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15106"/>
            <a:ext cx="8229600" cy="821988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Data Cleaning &amp; Preprocessing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F6C6A-DF22-A3ED-4B4F-382D89E47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/>
              <a:t>Data Cleaning &amp; Preprocessing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Missing values handled using </a:t>
            </a:r>
            <a:r>
              <a:rPr lang="en-US" sz="1600" b="1" dirty="0">
                <a:ea typeface="+mn-lt"/>
                <a:cs typeface="+mn-lt"/>
              </a:rPr>
              <a:t>domain-aware imputation.</a:t>
            </a:r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latin typeface="Calibri"/>
                <a:ea typeface="Calibri"/>
                <a:cs typeface="Calibri"/>
              </a:rPr>
              <a:t>education</a:t>
            </a:r>
            <a:r>
              <a:rPr lang="en-US" sz="1600" dirty="0">
                <a:ea typeface="+mn-lt"/>
                <a:cs typeface="+mn-lt"/>
              </a:rPr>
              <a:t> imputed using </a:t>
            </a:r>
            <a:r>
              <a:rPr lang="en-US" sz="1600" b="1" dirty="0">
                <a:ea typeface="+mn-lt"/>
                <a:cs typeface="+mn-lt"/>
              </a:rPr>
              <a:t>mode</a:t>
            </a:r>
            <a:r>
              <a:rPr lang="en-US" sz="1600" dirty="0">
                <a:ea typeface="+mn-lt"/>
                <a:cs typeface="+mn-lt"/>
              </a:rPr>
              <a:t> to preserve categorical distribution.</a:t>
            </a:r>
            <a:endParaRPr lang="en-US" sz="160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Features separated into </a:t>
            </a:r>
            <a:r>
              <a:rPr lang="en-US" sz="1600" b="1" dirty="0">
                <a:ea typeface="+mn-lt"/>
                <a:cs typeface="+mn-lt"/>
              </a:rPr>
              <a:t>categorical and numerical groups</a:t>
            </a:r>
            <a:endParaRPr lang="en-US" sz="1600" b="1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Categorical features imputed using </a:t>
            </a:r>
            <a:r>
              <a:rPr lang="en-US" sz="1600" b="1" dirty="0">
                <a:ea typeface="+mn-lt"/>
                <a:cs typeface="+mn-lt"/>
              </a:rPr>
              <a:t>most-frequent strategy</a:t>
            </a:r>
            <a:endParaRPr lang="en-US" sz="1600" b="1" dirty="0">
              <a:latin typeface="Calibri"/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Numerical features </a:t>
            </a:r>
            <a:r>
              <a:rPr lang="en-US" sz="1600" b="1" dirty="0">
                <a:ea typeface="+mn-lt"/>
                <a:cs typeface="+mn-lt"/>
              </a:rPr>
              <a:t>standardized</a:t>
            </a:r>
            <a:r>
              <a:rPr lang="en-US" sz="1600" dirty="0">
                <a:ea typeface="+mn-lt"/>
                <a:cs typeface="+mn-lt"/>
              </a:rPr>
              <a:t> to ensure scale consistency</a:t>
            </a:r>
            <a:endParaRPr lang="en-US" dirty="0"/>
          </a:p>
          <a:p>
            <a:r>
              <a:rPr lang="en-US" sz="1600" dirty="0">
                <a:ea typeface="+mn-lt"/>
                <a:cs typeface="+mn-lt"/>
              </a:rPr>
              <a:t>All preprocessing implemented using </a:t>
            </a:r>
            <a:r>
              <a:rPr lang="en-US" sz="1600" b="1" dirty="0" err="1">
                <a:ea typeface="+mn-lt"/>
                <a:cs typeface="+mn-lt"/>
              </a:rPr>
              <a:t>ColumnTransformer</a:t>
            </a:r>
            <a:endParaRPr lang="en-US" dirty="0" err="1"/>
          </a:p>
          <a:p>
            <a:r>
              <a:rPr lang="en-US" sz="1600" dirty="0">
                <a:ea typeface="+mn-lt"/>
                <a:cs typeface="+mn-lt"/>
              </a:rPr>
              <a:t>Ensures consistent transformations during </a:t>
            </a:r>
            <a:r>
              <a:rPr lang="en-US" sz="1600" b="1" dirty="0">
                <a:ea typeface="+mn-lt"/>
                <a:cs typeface="+mn-lt"/>
              </a:rPr>
              <a:t>training and inference</a:t>
            </a:r>
            <a:endParaRPr lang="en-US" dirty="0"/>
          </a:p>
          <a:p>
            <a:endParaRPr lang="en-US" sz="1600" b="1" dirty="0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b="1" dirty="0">
                <a:latin typeface="Calibri"/>
                <a:ea typeface="+mn-lt"/>
                <a:cs typeface="+mn-lt"/>
              </a:rPr>
              <a:t>Data Cleaning &amp; Preprocessing – Feature Engineering</a:t>
            </a:r>
          </a:p>
          <a:p>
            <a:r>
              <a:rPr lang="en-US" sz="1600" dirty="0">
                <a:latin typeface="Calibri"/>
                <a:ea typeface="+mn-lt"/>
                <a:cs typeface="+mn-lt"/>
              </a:rPr>
              <a:t>Missing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previous_year_rating</a:t>
            </a:r>
            <a:r>
              <a:rPr lang="en-US" sz="1600" dirty="0">
                <a:latin typeface="Calibri"/>
                <a:ea typeface="+mn-lt"/>
                <a:cs typeface="+mn-lt"/>
              </a:rPr>
              <a:t> handled using </a:t>
            </a:r>
            <a:r>
              <a:rPr lang="en-US" sz="1600" b="1" dirty="0">
                <a:latin typeface="Calibri"/>
                <a:ea typeface="+mn-lt"/>
                <a:cs typeface="+mn-lt"/>
              </a:rPr>
              <a:t>business context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r>
              <a:rPr lang="en-US" sz="1600" dirty="0">
                <a:latin typeface="Calibri"/>
                <a:ea typeface="+mn-lt"/>
                <a:cs typeface="+mn-lt"/>
              </a:rPr>
              <a:t>Created a </a:t>
            </a:r>
            <a:r>
              <a:rPr lang="en-US" sz="1600" b="1" dirty="0">
                <a:latin typeface="Calibri"/>
                <a:ea typeface="+mn-lt"/>
                <a:cs typeface="+mn-lt"/>
              </a:rPr>
              <a:t>new binary feature (</a:t>
            </a:r>
            <a:r>
              <a:rPr lang="en-US" sz="1600" b="1" err="1">
                <a:latin typeface="Calibri"/>
                <a:ea typeface="Calibri"/>
                <a:cs typeface="Calibri"/>
              </a:rPr>
              <a:t>new_joinee</a:t>
            </a:r>
            <a:r>
              <a:rPr lang="en-US" sz="1600" b="1" dirty="0">
                <a:latin typeface="Calibri"/>
                <a:ea typeface="+mn-lt"/>
                <a:cs typeface="+mn-lt"/>
              </a:rPr>
              <a:t>)</a:t>
            </a:r>
            <a:r>
              <a:rPr lang="en-US" sz="1600" dirty="0">
                <a:latin typeface="Calibri"/>
                <a:ea typeface="+mn-lt"/>
                <a:cs typeface="+mn-lt"/>
              </a:rPr>
              <a:t> to capture appraisal eligibility</a:t>
            </a:r>
            <a:endParaRPr lang="en-US" dirty="0">
              <a:latin typeface="Calibri"/>
            </a:endParaRPr>
          </a:p>
          <a:p>
            <a:endParaRPr lang="en-US" sz="16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1600" b="1" dirty="0"/>
              <a:t>Pipeline Creation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End-to-end pipeline built using </a:t>
            </a:r>
            <a:r>
              <a:rPr lang="en-US" sz="1600" b="1" dirty="0">
                <a:ea typeface="+mn-lt"/>
                <a:cs typeface="+mn-lt"/>
              </a:rPr>
              <a:t>scikit-learn Pipelines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Custom </a:t>
            </a:r>
            <a:r>
              <a:rPr lang="en-US" sz="1600" b="1" err="1">
                <a:ea typeface="+mn-lt"/>
                <a:cs typeface="+mn-lt"/>
              </a:rPr>
              <a:t>FeatureEngineering</a:t>
            </a:r>
            <a:r>
              <a:rPr lang="en-US" sz="1600" b="1" dirty="0">
                <a:ea typeface="+mn-lt"/>
                <a:cs typeface="+mn-lt"/>
              </a:rPr>
              <a:t> transformer</a:t>
            </a:r>
            <a:r>
              <a:rPr lang="en-US" sz="1600" dirty="0">
                <a:ea typeface="+mn-lt"/>
                <a:cs typeface="+mn-lt"/>
              </a:rPr>
              <a:t> applied as first step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Encoding, scaling, and sampling chained in a </a:t>
            </a:r>
            <a:r>
              <a:rPr lang="en-US" sz="1600" b="1" dirty="0">
                <a:ea typeface="+mn-lt"/>
                <a:cs typeface="+mn-lt"/>
              </a:rPr>
              <a:t>single workflow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Enables reproducibility and simplifies deployment</a:t>
            </a:r>
            <a:endParaRPr lang="en-US" dirty="0"/>
          </a:p>
          <a:p>
            <a:pPr marL="0" indent="0"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6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5113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0213-1466-60B1-03EA-93242434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Model Selection Strategy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CD375-B789-682C-7FBC-2AFCA780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Model Selection Strategy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Multiple classifiers evaluated using </a:t>
            </a:r>
            <a:r>
              <a:rPr lang="en-US" sz="1600" b="1" err="1">
                <a:ea typeface="+mn-lt"/>
                <a:cs typeface="+mn-lt"/>
              </a:rPr>
              <a:t>GridSearchCV</a:t>
            </a:r>
            <a:r>
              <a:rPr lang="en-US" sz="1600" b="1" dirty="0">
                <a:ea typeface="+mn-lt"/>
                <a:cs typeface="+mn-lt"/>
              </a:rPr>
              <a:t> with F1-score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b="1" dirty="0">
                <a:ea typeface="+mn-lt"/>
                <a:cs typeface="+mn-lt"/>
              </a:rPr>
              <a:t>Random Forest</a:t>
            </a:r>
            <a:r>
              <a:rPr lang="en-US" sz="1600" dirty="0">
                <a:ea typeface="+mn-lt"/>
                <a:cs typeface="+mn-lt"/>
              </a:rPr>
              <a:t> achieved near-perfect performance on training data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Significant </a:t>
            </a:r>
            <a:r>
              <a:rPr lang="en-US" sz="1600" b="1" dirty="0">
                <a:ea typeface="+mn-lt"/>
                <a:cs typeface="+mn-lt"/>
              </a:rPr>
              <a:t>performance drop on test set</a:t>
            </a:r>
            <a:r>
              <a:rPr lang="en-US" sz="1600" dirty="0">
                <a:ea typeface="+mn-lt"/>
                <a:cs typeface="+mn-lt"/>
              </a:rPr>
              <a:t>, indicating </a:t>
            </a:r>
            <a:r>
              <a:rPr lang="en-US" sz="1600" b="1" dirty="0">
                <a:ea typeface="+mn-lt"/>
                <a:cs typeface="+mn-lt"/>
              </a:rPr>
              <a:t>overfitting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Third-ranked </a:t>
            </a:r>
            <a:r>
              <a:rPr lang="en-US" sz="1600" b="1" err="1">
                <a:ea typeface="+mn-lt"/>
                <a:cs typeface="+mn-lt"/>
              </a:rPr>
              <a:t>XGBoost</a:t>
            </a:r>
            <a:r>
              <a:rPr lang="en-US" sz="1600" b="1" dirty="0">
                <a:ea typeface="+mn-lt"/>
                <a:cs typeface="+mn-lt"/>
              </a:rPr>
              <a:t> Classifier</a:t>
            </a:r>
            <a:r>
              <a:rPr lang="en-US" sz="1600" dirty="0">
                <a:ea typeface="+mn-lt"/>
                <a:cs typeface="+mn-lt"/>
              </a:rPr>
              <a:t> showed better </a:t>
            </a:r>
            <a:r>
              <a:rPr lang="en-US" sz="1600" b="1" dirty="0">
                <a:ea typeface="+mn-lt"/>
                <a:cs typeface="+mn-lt"/>
              </a:rPr>
              <a:t>generalization</a:t>
            </a:r>
            <a:r>
              <a:rPr lang="en-US" sz="1600" dirty="0">
                <a:ea typeface="+mn-lt"/>
                <a:cs typeface="+mn-lt"/>
              </a:rPr>
              <a:t> on unseen data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Final model selected based on </a:t>
            </a:r>
            <a:r>
              <a:rPr lang="en-US" sz="1600" b="1" dirty="0">
                <a:ea typeface="+mn-lt"/>
                <a:cs typeface="+mn-lt"/>
              </a:rPr>
              <a:t>test performance stability</a:t>
            </a:r>
            <a:r>
              <a:rPr lang="en-US" sz="1600" dirty="0">
                <a:ea typeface="+mn-lt"/>
                <a:cs typeface="+mn-lt"/>
              </a:rPr>
              <a:t>, not training accuracy</a:t>
            </a:r>
            <a:endParaRPr lang="en-US" sz="1600"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  <a:ea typeface="+mn-lt"/>
                <a:cs typeface="+mn-lt"/>
              </a:rPr>
              <a:t>“</a:t>
            </a:r>
            <a:r>
              <a:rPr lang="en-US" sz="1600" dirty="0" err="1">
                <a:solidFill>
                  <a:schemeClr val="accent6"/>
                </a:solidFill>
                <a:ea typeface="+mn-lt"/>
                <a:cs typeface="+mn-lt"/>
              </a:rPr>
              <a:t>XGBoost</a:t>
            </a:r>
            <a:r>
              <a:rPr lang="en-US" sz="1600" dirty="0">
                <a:solidFill>
                  <a:schemeClr val="accent6"/>
                </a:solidFill>
                <a:ea typeface="+mn-lt"/>
                <a:cs typeface="+mn-lt"/>
              </a:rPr>
              <a:t> was chosen over Random Forest due to its superior generalization despite slightly lower training performance.</a:t>
            </a:r>
            <a:r>
              <a:rPr lang="en-US" sz="1600" i="1" dirty="0">
                <a:solidFill>
                  <a:schemeClr val="accent6"/>
                </a:solidFill>
                <a:ea typeface="+mn-lt"/>
                <a:cs typeface="+mn-lt"/>
              </a:rPr>
              <a:t>”</a:t>
            </a:r>
            <a:endParaRPr lang="en-US" i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accent6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600" i="1" dirty="0">
              <a:solidFill>
                <a:schemeClr val="accent6"/>
              </a:solidFill>
              <a:ea typeface="Calibri"/>
              <a:cs typeface="Calibri"/>
            </a:endParaRPr>
          </a:p>
          <a:p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8695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ea typeface="+mn-lt"/>
                <a:cs typeface="+mn-lt"/>
              </a:rPr>
              <a:t>Applied </a:t>
            </a:r>
            <a:r>
              <a:rPr lang="en-US" sz="1600" b="1" err="1">
                <a:ea typeface="+mn-lt"/>
                <a:cs typeface="+mn-lt"/>
              </a:rPr>
              <a:t>RandomizedSearchCV</a:t>
            </a:r>
            <a:r>
              <a:rPr lang="en-US" sz="1600" dirty="0">
                <a:ea typeface="+mn-lt"/>
                <a:cs typeface="+mn-lt"/>
              </a:rPr>
              <a:t> to both Random Forest and </a:t>
            </a:r>
            <a:r>
              <a:rPr lang="en-US" sz="1600" err="1">
                <a:ea typeface="+mn-lt"/>
                <a:cs typeface="+mn-lt"/>
              </a:rPr>
              <a:t>XGBoost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Random Forest achieved </a:t>
            </a:r>
            <a:r>
              <a:rPr lang="en-US" sz="1600" b="1" dirty="0">
                <a:ea typeface="+mn-lt"/>
                <a:cs typeface="+mn-lt"/>
              </a:rPr>
              <a:t>near-perfect training metrics</a:t>
            </a:r>
            <a:r>
              <a:rPr lang="en-US" sz="1600" dirty="0">
                <a:ea typeface="+mn-lt"/>
                <a:cs typeface="+mn-lt"/>
              </a:rPr>
              <a:t>, but still showed </a:t>
            </a:r>
            <a:r>
              <a:rPr lang="en-US" sz="1600" b="1" dirty="0">
                <a:ea typeface="+mn-lt"/>
                <a:cs typeface="+mn-lt"/>
              </a:rPr>
              <a:t>overfitting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err="1">
                <a:ea typeface="+mn-lt"/>
                <a:cs typeface="+mn-lt"/>
              </a:rPr>
              <a:t>XGBoost</a:t>
            </a:r>
            <a:r>
              <a:rPr lang="en-US" sz="1600" dirty="0">
                <a:ea typeface="+mn-lt"/>
                <a:cs typeface="+mn-lt"/>
              </a:rPr>
              <a:t> tuning controlled complexity using:</a:t>
            </a:r>
            <a:endParaRPr lang="en-US" sz="1600"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1600" dirty="0">
                <a:ea typeface="+mn-lt"/>
                <a:cs typeface="+mn-lt"/>
              </a:rPr>
              <a:t>learning rate &amp; number of estimators</a:t>
            </a:r>
            <a:endParaRPr lang="en-US" sz="1600" dirty="0"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1600" dirty="0">
                <a:ea typeface="+mn-lt"/>
                <a:cs typeface="+mn-lt"/>
              </a:rPr>
              <a:t>tree depth &amp; minimum child weight</a:t>
            </a:r>
            <a:endParaRPr lang="en-US" sz="1600" dirty="0"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1600" dirty="0">
                <a:ea typeface="+mn-lt"/>
                <a:cs typeface="+mn-lt"/>
              </a:rPr>
              <a:t>subsampling and column sampling</a:t>
            </a:r>
            <a:endParaRPr lang="en-US" sz="1600" dirty="0"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1600" dirty="0">
                <a:ea typeface="+mn-lt"/>
                <a:cs typeface="+mn-lt"/>
              </a:rPr>
              <a:t>class imbalance handling (</a:t>
            </a:r>
            <a:r>
              <a:rPr lang="en-US" sz="1600" err="1">
                <a:latin typeface="Calibri"/>
                <a:ea typeface="Calibri"/>
                <a:cs typeface="Calibri"/>
              </a:rPr>
              <a:t>scale_pos_weight</a:t>
            </a:r>
            <a:r>
              <a:rPr lang="en-US" sz="1600" dirty="0">
                <a:ea typeface="+mn-lt"/>
                <a:cs typeface="+mn-lt"/>
              </a:rPr>
              <a:t>)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Tuned </a:t>
            </a:r>
            <a:r>
              <a:rPr lang="en-US" sz="1600" dirty="0" err="1">
                <a:ea typeface="+mn-lt"/>
                <a:cs typeface="+mn-lt"/>
              </a:rPr>
              <a:t>XGBoost</a:t>
            </a:r>
            <a:r>
              <a:rPr lang="en-US" sz="1600" dirty="0">
                <a:ea typeface="+mn-lt"/>
                <a:cs typeface="+mn-lt"/>
              </a:rPr>
              <a:t> delivered </a:t>
            </a:r>
            <a:r>
              <a:rPr lang="en-US" sz="1600" b="1" dirty="0">
                <a:ea typeface="+mn-lt"/>
                <a:cs typeface="+mn-lt"/>
              </a:rPr>
              <a:t>better recall and F1-score on test data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Final model chosen based on </a:t>
            </a:r>
            <a:r>
              <a:rPr lang="en-US" sz="1600" b="1" dirty="0">
                <a:ea typeface="+mn-lt"/>
                <a:cs typeface="+mn-lt"/>
              </a:rPr>
              <a:t>test-set generalization, not training score</a:t>
            </a:r>
            <a:endParaRPr lang="en-US" sz="1600">
              <a:ea typeface="Calibri"/>
              <a:cs typeface="Calibri"/>
            </a:endParaRPr>
          </a:p>
          <a:p>
            <a:endParaRPr lang="en-US" sz="1600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  <a:ea typeface="+mn-lt"/>
                <a:cs typeface="+mn-lt"/>
              </a:rPr>
              <a:t>“</a:t>
            </a:r>
            <a:r>
              <a:rPr lang="en-US" sz="1600" i="1" err="1">
                <a:solidFill>
                  <a:schemeClr val="accent6"/>
                </a:solidFill>
                <a:ea typeface="+mn-lt"/>
                <a:cs typeface="+mn-lt"/>
              </a:rPr>
              <a:t>XGBoost’s</a:t>
            </a:r>
            <a:r>
              <a:rPr lang="en-US" sz="1600" i="1" dirty="0">
                <a:solidFill>
                  <a:schemeClr val="accent6"/>
                </a:solidFill>
                <a:ea typeface="+mn-lt"/>
                <a:cs typeface="+mn-lt"/>
              </a:rPr>
              <a:t> regularization and boosting parameters improved generalization, while Random Forest remained prone to overfitting.”</a:t>
            </a:r>
            <a:endParaRPr lang="en-US" i="1" dirty="0">
              <a:solidFill>
                <a:schemeClr val="accent6"/>
              </a:solidFill>
            </a:endParaRPr>
          </a:p>
          <a:p>
            <a:endParaRPr lang="en-US" sz="1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D652-12AB-7E2D-FAB8-D9357B83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Threshold Tuning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1EBE3-67FE-94DF-5C95-8368FC42E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Model outputs </a:t>
            </a:r>
            <a:r>
              <a:rPr lang="en-US" sz="2000" b="1">
                <a:ea typeface="+mn-lt"/>
                <a:cs typeface="+mn-lt"/>
              </a:rPr>
              <a:t>probability scores</a:t>
            </a:r>
            <a:r>
              <a:rPr lang="en-US" sz="2000">
                <a:ea typeface="+mn-lt"/>
                <a:cs typeface="+mn-lt"/>
              </a:rPr>
              <a:t>, not just class labels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Evaluated multiple thresholds to balance </a:t>
            </a:r>
            <a:r>
              <a:rPr lang="en-US" sz="2000" b="1" dirty="0">
                <a:ea typeface="+mn-lt"/>
                <a:cs typeface="+mn-lt"/>
              </a:rPr>
              <a:t>precision, recall, and F1-score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Observed trade-off: increasing threshold improves precision but reduces recall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Selected </a:t>
            </a:r>
            <a:r>
              <a:rPr lang="en-US" sz="2000" b="1" dirty="0">
                <a:ea typeface="+mn-lt"/>
                <a:cs typeface="+mn-lt"/>
              </a:rPr>
              <a:t>optimal threshold (~0.69)</a:t>
            </a:r>
            <a:r>
              <a:rPr lang="en-US" sz="2000" dirty="0">
                <a:ea typeface="+mn-lt"/>
                <a:cs typeface="+mn-lt"/>
              </a:rPr>
              <a:t> where </a:t>
            </a:r>
            <a:r>
              <a:rPr lang="en-US" sz="2000" b="1" dirty="0">
                <a:ea typeface="+mn-lt"/>
                <a:cs typeface="+mn-lt"/>
              </a:rPr>
              <a:t>F1-score is maximized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Enables business-aligned decisions instead of fixed 0.5 cutoff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accent6"/>
                </a:solidFill>
                <a:ea typeface="+mn-lt"/>
                <a:cs typeface="+mn-lt"/>
              </a:rPr>
              <a:t>“Threshold tuning allowed us to balance false positives and false negatives based on business priorities.”</a:t>
            </a:r>
            <a:endParaRPr lang="en-US" i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3675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62CF1-15DB-1EFB-8E0B-5AB4D561C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FastAPI</a:t>
            </a:r>
            <a:r>
              <a:rPr lang="en-US" dirty="0">
                <a:ea typeface="Calibri"/>
                <a:cs typeface="Calibri"/>
              </a:rPr>
              <a:t> Deployment On GCP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C8259-4C95-AB1D-9547-DC85C2B86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Trained model and optimal threshold </a:t>
            </a:r>
            <a:r>
              <a:rPr lang="en-US" sz="2000" b="1" dirty="0">
                <a:ea typeface="+mn-lt"/>
                <a:cs typeface="+mn-lt"/>
              </a:rPr>
              <a:t>loaded at application startup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REST API built using </a:t>
            </a:r>
            <a:r>
              <a:rPr lang="en-US" sz="2000" b="1" dirty="0" err="1">
                <a:ea typeface="+mn-lt"/>
                <a:cs typeface="+mn-lt"/>
              </a:rPr>
              <a:t>FastAPI</a:t>
            </a:r>
            <a:r>
              <a:rPr lang="en-US" sz="2000" b="1" dirty="0">
                <a:ea typeface="+mn-lt"/>
                <a:cs typeface="+mn-lt"/>
              </a:rPr>
              <a:t> with </a:t>
            </a:r>
            <a:r>
              <a:rPr lang="en-US" sz="2000" b="1" dirty="0" err="1">
                <a:ea typeface="+mn-lt"/>
                <a:cs typeface="+mn-lt"/>
              </a:rPr>
              <a:t>Pydantic</a:t>
            </a:r>
            <a:r>
              <a:rPr lang="en-US" sz="2000" b="1" dirty="0">
                <a:ea typeface="+mn-lt"/>
                <a:cs typeface="+mn-lt"/>
              </a:rPr>
              <a:t> schemas</a:t>
            </a:r>
            <a:r>
              <a:rPr lang="en-US" sz="2000" dirty="0">
                <a:ea typeface="+mn-lt"/>
                <a:cs typeface="+mn-lt"/>
              </a:rPr>
              <a:t> for input validation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Prediction endpoint returns </a:t>
            </a:r>
            <a:r>
              <a:rPr lang="en-US" sz="2000" b="1" dirty="0">
                <a:ea typeface="+mn-lt"/>
                <a:cs typeface="+mn-lt"/>
              </a:rPr>
              <a:t>class, probability, and employee ID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Model inference handled via a </a:t>
            </a:r>
            <a:r>
              <a:rPr lang="en-US" sz="2000" b="1" dirty="0">
                <a:ea typeface="+mn-lt"/>
                <a:cs typeface="+mn-lt"/>
              </a:rPr>
              <a:t>single serialized pipeline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API containerized using </a:t>
            </a:r>
            <a:r>
              <a:rPr lang="en-US" sz="2000" b="1" dirty="0">
                <a:ea typeface="+mn-lt"/>
                <a:cs typeface="+mn-lt"/>
              </a:rPr>
              <a:t>Docker</a:t>
            </a:r>
            <a:r>
              <a:rPr lang="en-US" sz="2000" dirty="0">
                <a:ea typeface="+mn-lt"/>
                <a:cs typeface="+mn-lt"/>
              </a:rPr>
              <a:t> and exposed via </a:t>
            </a:r>
            <a:r>
              <a:rPr lang="en-US" sz="2000" b="1" dirty="0" err="1">
                <a:ea typeface="+mn-lt"/>
                <a:cs typeface="+mn-lt"/>
              </a:rPr>
              <a:t>Uvicorn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Deployed on </a:t>
            </a:r>
            <a:r>
              <a:rPr lang="en-US" sz="2000" b="1" dirty="0">
                <a:ea typeface="+mn-lt"/>
                <a:cs typeface="+mn-lt"/>
              </a:rPr>
              <a:t>GCP Cloud Run</a:t>
            </a:r>
            <a:r>
              <a:rPr lang="en-US" sz="2000" dirty="0">
                <a:ea typeface="+mn-lt"/>
                <a:cs typeface="+mn-lt"/>
              </a:rPr>
              <a:t> with dynamic port configuration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👉 Fast API URL:</a:t>
            </a:r>
            <a:endParaRPr lang="en-US" sz="18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en-US" sz="1800" u="sng" dirty="0">
                <a:solidFill>
                  <a:srgbClr val="0969DA"/>
                </a:solidFill>
                <a:highlight>
                  <a:srgbClr val="FFFFFF"/>
                </a:highlight>
                <a:ea typeface="+mn-lt"/>
                <a:cs typeface="+mn-lt"/>
                <a:hlinkClick r:id="rId2"/>
              </a:rPr>
              <a:t>https://ml-inceptez-hackathon-hr-analytics-65827796111.europe-west1.run.app</a:t>
            </a:r>
            <a:endParaRPr lang="en-US" sz="180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981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Streamlit</a:t>
            </a:r>
            <a:r>
              <a:rPr dirty="0"/>
              <a:t> UI</a:t>
            </a:r>
            <a:r>
              <a:rPr lang="en-US" dirty="0"/>
              <a:t> Deployment On GCP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Interactive </a:t>
            </a:r>
            <a:r>
              <a:rPr lang="en-US" sz="2000" b="1" dirty="0" err="1">
                <a:ea typeface="+mn-lt"/>
                <a:cs typeface="+mn-lt"/>
              </a:rPr>
              <a:t>Streamlit</a:t>
            </a:r>
            <a:r>
              <a:rPr lang="en-US" sz="2000" b="1" dirty="0">
                <a:ea typeface="+mn-lt"/>
                <a:cs typeface="+mn-lt"/>
              </a:rPr>
              <a:t> UI</a:t>
            </a:r>
            <a:r>
              <a:rPr lang="en-US" sz="2000" dirty="0">
                <a:ea typeface="+mn-lt"/>
                <a:cs typeface="+mn-lt"/>
              </a:rPr>
              <a:t> built for HR users to input employee details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UI communicates with </a:t>
            </a:r>
            <a:r>
              <a:rPr lang="en-US" sz="2000" err="1">
                <a:ea typeface="+mn-lt"/>
                <a:cs typeface="+mn-lt"/>
              </a:rPr>
              <a:t>FastAPI</a:t>
            </a:r>
            <a:r>
              <a:rPr lang="en-US" sz="2000" dirty="0">
                <a:ea typeface="+mn-lt"/>
                <a:cs typeface="+mn-lt"/>
              </a:rPr>
              <a:t> via </a:t>
            </a:r>
            <a:r>
              <a:rPr lang="en-US" sz="2000" b="1" dirty="0">
                <a:ea typeface="+mn-lt"/>
                <a:cs typeface="+mn-lt"/>
              </a:rPr>
              <a:t>REST API calls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API endpoint configured using </a:t>
            </a:r>
            <a:r>
              <a:rPr lang="en-US" sz="2000" b="1" dirty="0">
                <a:ea typeface="+mn-lt"/>
                <a:cs typeface="+mn-lt"/>
              </a:rPr>
              <a:t>environment variables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UI containerized using </a:t>
            </a:r>
            <a:r>
              <a:rPr lang="en-US" sz="2000" b="1" dirty="0">
                <a:ea typeface="+mn-lt"/>
                <a:cs typeface="+mn-lt"/>
              </a:rPr>
              <a:t>Docker</a:t>
            </a:r>
            <a:r>
              <a:rPr lang="en-US" sz="2000" dirty="0">
                <a:ea typeface="+mn-lt"/>
                <a:cs typeface="+mn-lt"/>
              </a:rPr>
              <a:t> with dynamic port binding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Deployed as a </a:t>
            </a:r>
            <a:r>
              <a:rPr lang="en-US" sz="2000" b="1" dirty="0">
                <a:ea typeface="+mn-lt"/>
                <a:cs typeface="+mn-lt"/>
              </a:rPr>
              <a:t>separate Cloud Run service</a:t>
            </a:r>
            <a:r>
              <a:rPr lang="en-US" sz="2000" dirty="0">
                <a:ea typeface="+mn-lt"/>
                <a:cs typeface="+mn-lt"/>
              </a:rPr>
              <a:t> for independent scaling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Real-time prediction results displayed with </a:t>
            </a:r>
            <a:r>
              <a:rPr lang="en-US" sz="2000" b="1" dirty="0">
                <a:ea typeface="+mn-lt"/>
                <a:cs typeface="+mn-lt"/>
              </a:rPr>
              <a:t>probability and visual feedback</a:t>
            </a:r>
            <a:endParaRPr lang="en-US" sz="2000" dirty="0"/>
          </a:p>
          <a:p>
            <a:endParaRPr lang="en-US" sz="2000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1F2328"/>
                </a:solidFill>
                <a:highlight>
                  <a:srgbClr val="FFFFFF"/>
                </a:highlight>
                <a:ea typeface="Calibri"/>
                <a:cs typeface="Calibri"/>
              </a:rPr>
              <a:t>👉 </a:t>
            </a:r>
            <a:r>
              <a:rPr lang="en-US" sz="1800" b="1" dirty="0" err="1">
                <a:solidFill>
                  <a:srgbClr val="1F2328"/>
                </a:solidFill>
                <a:highlight>
                  <a:srgbClr val="FFFFFF"/>
                </a:highlight>
                <a:ea typeface="Calibri"/>
                <a:cs typeface="Calibri"/>
              </a:rPr>
              <a:t>Streamlit</a:t>
            </a:r>
            <a:r>
              <a:rPr lang="en-US" sz="1800" b="1" dirty="0">
                <a:solidFill>
                  <a:srgbClr val="1F2328"/>
                </a:solidFill>
                <a:highlight>
                  <a:srgbClr val="FFFFFF"/>
                </a:highlight>
                <a:ea typeface="Calibri"/>
                <a:cs typeface="Calibri"/>
              </a:rPr>
              <a:t> UI API URL:</a:t>
            </a:r>
            <a:endParaRPr lang="en-US"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1F2328"/>
                </a:solidFill>
                <a:highlight>
                  <a:srgbClr val="FFFFFF"/>
                </a:highlight>
                <a:ea typeface="Calibri"/>
                <a:cs typeface="Calibri"/>
              </a:rPr>
              <a:t> </a:t>
            </a:r>
            <a:r>
              <a:rPr lang="en-US" sz="1800" u="sng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  <a:hlinkClick r:id="rId2"/>
              </a:rPr>
              <a:t>https://inceptez-hackathon-hr-analytics-ui-65827796111.europe-west1.run.app</a:t>
            </a:r>
            <a:endParaRPr lang="en-US">
              <a:solidFill>
                <a:srgbClr val="000000"/>
              </a:solidFill>
              <a:ea typeface="+mn-lt"/>
              <a:cs typeface="+mn-lt"/>
              <a:hlinkClick r:id="rId2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sz="18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inputs data in Streamlit UI</a:t>
            </a:r>
          </a:p>
          <a:p>
            <a:r>
              <a:t>2. UI sends request to FastAPI</a:t>
            </a:r>
          </a:p>
          <a:p>
            <a:r>
              <a:t>3. ML model performs prediction</a:t>
            </a:r>
          </a:p>
          <a:p>
            <a:r>
              <a:t>4. Result returned and displayed to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HR Promotion Prediction – Project Overview</vt:lpstr>
      <vt:lpstr>Exploratory Data Analysis (EDA)</vt:lpstr>
      <vt:lpstr>Exploratory Data Analysis (EDA)</vt:lpstr>
      <vt:lpstr>Data Cleaning &amp; Preprocessing </vt:lpstr>
      <vt:lpstr>Model Selection Strategy </vt:lpstr>
      <vt:lpstr>Hyperparameter Tuning</vt:lpstr>
      <vt:lpstr>Threshold Tuning </vt:lpstr>
      <vt:lpstr>FastAPI Deployment On GCP</vt:lpstr>
      <vt:lpstr>Streamlit UI Deployment On GCP</vt:lpstr>
      <vt:lpstr>End-to-End 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129</cp:revision>
  <dcterms:created xsi:type="dcterms:W3CDTF">2013-01-27T09:14:16Z</dcterms:created>
  <dcterms:modified xsi:type="dcterms:W3CDTF">2026-01-04T15:20:40Z</dcterms:modified>
  <cp:category/>
</cp:coreProperties>
</file>